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0D1B2A"/>
                </a:solidFill>
              </a:rPr>
              <a:t>R² Score ↑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4A90D9"/>
            </a:solidFill>
          </c:spPr>
          <c:cat>
            <c:strRef>
              <c:f>Sheet1!$A$2:$A$7</c:f>
              <c:strCache>
                <c:ptCount val="6"/>
                <c:pt idx="0">
                  <c:v>Ridge</c:v>
                </c:pt>
                <c:pt idx="1">
                  <c:v>Lasso</c:v>
                </c:pt>
                <c:pt idx="2">
                  <c:v>Elastic</c:v>
                </c:pt>
                <c:pt idx="3">
                  <c:v>OLS</c:v>
                </c:pt>
                <c:pt idx="4">
                  <c:v>GBT</c:v>
                </c:pt>
                <c:pt idx="5">
                  <c:v>RF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0.9986</c:v>
                </c:pt>
                <c:pt idx="1">
                  <c:v>0.9985</c:v>
                </c:pt>
                <c:pt idx="2">
                  <c:v>0.9985</c:v>
                </c:pt>
                <c:pt idx="3">
                  <c:v>0.9985</c:v>
                </c:pt>
                <c:pt idx="4">
                  <c:v>0.9688</c:v>
                </c:pt>
                <c:pt idx="5">
                  <c:v>0.631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0D1B2A"/>
                </a:solidFill>
              </a:rPr>
              <a:t>RMSE ↓ (lower =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Sheet1!$A$2:$A$7</c:f>
              <c:strCache>
                <c:ptCount val="6"/>
                <c:pt idx="0">
                  <c:v>Ridge</c:v>
                </c:pt>
                <c:pt idx="1">
                  <c:v>Lasso</c:v>
                </c:pt>
                <c:pt idx="2">
                  <c:v>Elastic</c:v>
                </c:pt>
                <c:pt idx="3">
                  <c:v>OLS</c:v>
                </c:pt>
                <c:pt idx="4">
                  <c:v>GBT</c:v>
                </c:pt>
                <c:pt idx="5">
                  <c:v>RF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24.42</c:v>
                </c:pt>
                <c:pt idx="1">
                  <c:v>24.62</c:v>
                </c:pt>
                <c:pt idx="2">
                  <c:v>24.84</c:v>
                </c:pt>
                <c:pt idx="3">
                  <c:v>24.96</c:v>
                </c:pt>
                <c:pt idx="4">
                  <c:v>113.58</c:v>
                </c:pt>
                <c:pt idx="5">
                  <c:v>390.82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0D1B2A"/>
                </a:solidFill>
              </a:rPr>
              <a:t>MAE ↓ (lower = better)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1A6B3C"/>
            </a:solidFill>
          </c:spPr>
          <c:cat>
            <c:strRef>
              <c:f>Sheet1!$A$2:$A$7</c:f>
              <c:strCache>
                <c:ptCount val="6"/>
                <c:pt idx="0">
                  <c:v>Ridge</c:v>
                </c:pt>
                <c:pt idx="1">
                  <c:v>Lasso</c:v>
                </c:pt>
                <c:pt idx="2">
                  <c:v>Elastic</c:v>
                </c:pt>
                <c:pt idx="3">
                  <c:v>OLS</c:v>
                </c:pt>
                <c:pt idx="4">
                  <c:v>GBT</c:v>
                </c:pt>
                <c:pt idx="5">
                  <c:v>RF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5.49</c:v>
                </c:pt>
                <c:pt idx="1">
                  <c:v>5.33</c:v>
                </c:pt>
                <c:pt idx="2">
                  <c:v>5.5</c:v>
                </c:pt>
                <c:pt idx="3">
                  <c:v>5.65</c:v>
                </c:pt>
                <c:pt idx="4">
                  <c:v>4.12</c:v>
                </c:pt>
                <c:pt idx="5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0D1B2A"/>
                </a:solidFill>
              </a:rPr>
              <a:t>Residual Distribution (schematic)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Freq</c:v>
                </c:pt>
              </c:strCache>
            </c:strRef>
          </c:tx>
          <c:spPr>
            <a:solidFill>
              <a:srgbClr val="4A90D9"/>
            </a:solidFill>
          </c:spPr>
          <c:cat>
            <c:strRef>
              <c:f>Sheet1!$A$2:$A$8</c:f>
              <c:strCache>
                <c:ptCount val="7"/>
                <c:pt idx="0">
                  <c:v>-100+</c:v>
                </c:pt>
                <c:pt idx="1">
                  <c:v>-50</c:v>
                </c:pt>
                <c:pt idx="2">
                  <c:v>-25</c:v>
                </c:pt>
                <c:pt idx="3">
                  <c:v>0</c:v>
                </c:pt>
                <c:pt idx="4">
                  <c:v>+25</c:v>
                </c:pt>
                <c:pt idx="5">
                  <c:v>+50</c:v>
                </c:pt>
                <c:pt idx="6">
                  <c:v>+100+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8</c:v>
                </c:pt>
                <c:pt idx="2">
                  <c:v>22</c:v>
                </c:pt>
                <c:pt idx="3">
                  <c:v>40</c:v>
                </c:pt>
                <c:pt idx="4">
                  <c:v>18</c:v>
                </c:pt>
                <c:pt idx="5">
                  <c:v>7</c:v>
                </c:pt>
                <c:pt idx="6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4A90D9"/>
            </a:solidFill>
          </c:spPr>
          <c:cat>
            <c:strRef>
              <c:f>Sheet1!$A$2:$A$16</c:f>
              <c:strCache>
                <c:ptCount val="15"/>
                <c:pt idx="0">
                  <c:v>Arithmetic Mean</c:v>
                </c:pt>
                <c:pt idx="1">
                  <c:v>Arithmetic Standard Dev</c:v>
                </c:pt>
                <c:pt idx="2">
                  <c:v>Parameter Name (encoded)</c:v>
                </c:pt>
                <c:pt idx="3">
                  <c:v>State Name (encoded)</c:v>
                </c:pt>
                <c:pt idx="4">
                  <c:v>Observation Count</c:v>
                </c:pt>
                <c:pt idx="5">
                  <c:v>Latitude</c:v>
                </c:pt>
                <c:pt idx="6">
                  <c:v>Longitude</c:v>
                </c:pt>
                <c:pt idx="7">
                  <c:v>Valid Day Count</c:v>
                </c:pt>
                <c:pt idx="8">
                  <c:v>Observation Percent</c:v>
                </c:pt>
                <c:pt idx="9">
                  <c:v>County Code</c:v>
                </c:pt>
                <c:pt idx="10">
                  <c:v>Required Day Count</c:v>
                </c:pt>
                <c:pt idx="11">
                  <c:v>Null Data Count</c:v>
                </c:pt>
                <c:pt idx="12">
                  <c:v>Exceptional Data Count</c:v>
                </c:pt>
                <c:pt idx="13">
                  <c:v>Site Num</c:v>
                </c:pt>
                <c:pt idx="14">
                  <c:v>POC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5.5</c:v>
                </c:pt>
                <c:pt idx="1">
                  <c:v>4.2</c:v>
                </c:pt>
                <c:pt idx="2">
                  <c:v>2.8</c:v>
                </c:pt>
                <c:pt idx="3">
                  <c:v>2.1</c:v>
                </c:pt>
                <c:pt idx="4">
                  <c:v>1.6</c:v>
                </c:pt>
                <c:pt idx="5">
                  <c:v>1.3</c:v>
                </c:pt>
                <c:pt idx="6">
                  <c:v>1.2</c:v>
                </c:pt>
                <c:pt idx="7">
                  <c:v>0.9</c:v>
                </c:pt>
                <c:pt idx="8">
                  <c:v>0.8</c:v>
                </c:pt>
                <c:pt idx="9">
                  <c:v>0.7</c:v>
                </c:pt>
                <c:pt idx="10">
                  <c:v>0.6</c:v>
                </c:pt>
                <c:pt idx="11">
                  <c:v>0.5</c:v>
                </c:pt>
                <c:pt idx="12">
                  <c:v>0.45</c:v>
                </c:pt>
                <c:pt idx="13">
                  <c:v>0.4</c:v>
                </c:pt>
                <c:pt idx="14">
                  <c:v>0.35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Predicting Extreme Air Pollution Levels Using PySpark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 i="0">
                <a:solidFill>
                  <a:srgbClr val="4A90D9"/>
                </a:solidFill>
                <a:latin typeface="Calibri"/>
              </a:rPr>
              <a:t>Big Data Analytics and Text Mining —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Alireza Shahidiani · Gita Javadi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i="0">
                <a:solidFill>
                  <a:srgbClr val="AABBC8"/>
                </a:solidFill>
                <a:latin typeface="Calibri"/>
              </a:rPr>
              <a:t>Alma Mater Studiorum — Università di Bologna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49039"/>
            <a:ext cx="82296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 i="0">
                <a:solidFill>
                  <a:srgbClr val="AABBC8"/>
                </a:solidFill>
                <a:latin typeface="Calibri"/>
              </a:rPr>
              <a:t>June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206240"/>
            <a:ext cx="54864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Presentation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3840480" cy="32918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0D1B2A"/>
                </a:solidFill>
                <a:latin typeface="Calibri"/>
              </a:rPr>
              <a:t>1. Problem Description &amp; Motivation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0D1B2A"/>
                </a:solidFill>
                <a:latin typeface="Calibri"/>
              </a:rPr>
              <a:t>2. Dataset Overview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0D1B2A"/>
                </a:solidFill>
                <a:latin typeface="Calibri"/>
              </a:rPr>
              <a:t>3. Experimental Setting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0D1B2A"/>
                </a:solidFill>
                <a:latin typeface="Calibri"/>
              </a:rPr>
              <a:t>4. Feature Engineering &amp; Leakage Prevention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0D1B2A"/>
                </a:solidFill>
                <a:latin typeface="Calibri"/>
              </a:rPr>
              <a:t>5. Exploratory Data Analysis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0D1B2A"/>
                </a:solidFill>
                <a:latin typeface="Calibri"/>
              </a:rPr>
              <a:t>6. Machine Learning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005840"/>
            <a:ext cx="3840480" cy="32918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0D1B2A"/>
                </a:solidFill>
                <a:latin typeface="Calibri"/>
              </a:rPr>
              <a:t>7. Hyperparameter Tuning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0D1B2A"/>
                </a:solidFill>
                <a:latin typeface="Calibri"/>
              </a:rPr>
              <a:t>8. Results &amp; Model Comparison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0D1B2A"/>
                </a:solidFill>
                <a:latin typeface="Calibri"/>
              </a:rPr>
              <a:t>9. Pros &amp; Cons of Each Algorithm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0D1B2A"/>
                </a:solidFill>
                <a:latin typeface="Calibri"/>
              </a:rPr>
              <a:t>10. Residual &amp; Feature Importance Analysis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0D1B2A"/>
                </a:solidFill>
                <a:latin typeface="Calibri"/>
              </a:rPr>
              <a:t>11. Discussion &amp; Conclusions</a:t>
            </a:r>
          </a:p>
          <a:p>
            <a:pPr algn="l">
              <a:lnSpc>
                <a:spcPts val="2200"/>
              </a:lnSpc>
            </a:pPr>
            <a:r>
              <a:rPr sz="1300" b="0" i="0">
                <a:solidFill>
                  <a:srgbClr val="0D1B2A"/>
                </a:solidFill>
                <a:latin typeface="Calibri"/>
              </a:rPr>
              <a:t>12. Limitations &amp; Future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73152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0" y="960120"/>
            <a:ext cx="73152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Problem Description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3840480" cy="23774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Air pollution causes ~7 million premature deaths/year (WHO)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99th-percentile concentration identifies the most extreme pollution events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Predicting extremes enables early warning systems &amp; regulatory planning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EPA monitors 400+ pollutants across thousands of US stations annually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914400"/>
            <a:ext cx="3657600" cy="3200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914400"/>
            <a:ext cx="3657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325880"/>
            <a:ext cx="38404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 i="1">
                <a:solidFill>
                  <a:srgbClr val="0D1B2A"/>
                </a:solidFill>
                <a:latin typeface="Calibri"/>
              </a:rPr>
              <a:t>Can station metadata and bulk distribution statistics reliably predict extreme (99th-percentile) annual pollutant concentrations across diverse pollutant types and geographic locations?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81381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 i="1">
                <a:solidFill>
                  <a:srgbClr val="0D1B2A"/>
                </a:solidFill>
                <a:latin typeface="Calibri"/>
              </a:rPr>
              <a:t>Dataset: EPA Air Quality Annual Summary 2025 — publicly available at aqs.epa.gov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Dataset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50292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926080"/>
              </a:tblGrid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Source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EPA Air Quality Annual Summary 2025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Raw patterns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59,154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Cleaned patterns (N)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55,969 rows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Raw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55 columns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Selected features (p)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18 (16 numeric + 2 categorical)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Distinct pollutants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406 parameter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US States covered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50 states + territories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N × p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1,007,442 ✓ (requirement: ≥ 1,000,000)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760720" y="914400"/>
            <a:ext cx="274320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0" y="914400"/>
            <a:ext cx="2743200" cy="42748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55,969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34188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4A90D9"/>
                </a:solidFill>
                <a:latin typeface="Calibri"/>
              </a:rPr>
              <a:t>Cleaned Patterns (N)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783080"/>
            <a:ext cx="274320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783080"/>
            <a:ext cx="2743200" cy="42748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21056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4A90D9"/>
                </a:solidFill>
                <a:latin typeface="Calibri"/>
              </a:rPr>
              <a:t>Features (p)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651760"/>
            <a:ext cx="274320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651760"/>
            <a:ext cx="2743200" cy="42748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1,007,442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079241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4A90D9"/>
                </a:solidFill>
                <a:latin typeface="Calibri"/>
              </a:rPr>
              <a:t>N × p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1">
                <a:solidFill>
                  <a:srgbClr val="0D1B2A"/>
                </a:solidFill>
                <a:latin typeface="Calibri"/>
              </a:rPr>
              <a:t>Target variable: 99th Percentile annual concentration (µg/m³ or equivalent units per pollutant)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Experimental Setting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3840480" cy="2834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VM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89888"/>
            <a:ext cx="3657600" cy="21945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Hypervisor: Oracle VirtualBox (Vagrant)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Guest OS: Ubuntu 22.04 LTS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RAM: 4 GB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vCPUs: 2 cores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Storage: 50 GB virtual disk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914400"/>
            <a:ext cx="3840480" cy="2834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005840"/>
            <a:ext cx="3657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i="0">
                <a:solidFill>
                  <a:srgbClr val="4A90D9"/>
                </a:solidFill>
                <a:latin typeface="Calibri"/>
              </a:rPr>
              <a:t>Software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89888"/>
            <a:ext cx="3657600" cy="21945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Hadoop 3.4.0 — single-node pseudo-distributed HDFS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Apache Spark 3.5.1 — local[2] mode on HDFS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PySpark 3.5.1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Python 3.10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Jupyter Notebook (port 8888, host-forwarded)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 i="1">
                <a:solidFill>
                  <a:srgbClr val="0D1B2A"/>
                </a:solidFill>
                <a:latin typeface="Calibri"/>
              </a:rPr>
              <a:t>Data is loaded into HDFS using explicit hdfs dfs -put commands before Spark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Feature Engineering &amp; Data Leakage Prevention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402336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868680"/>
            <a:ext cx="4023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EXCLUDED — Data Leakage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4023360" cy="256032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3840480" cy="23774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1" i="0">
                <a:solidFill>
                  <a:srgbClr val="0D1B2A"/>
                </a:solidFill>
                <a:latin typeface="Calibri"/>
              </a:rPr>
              <a:t>1st–4th Max Value</a:t>
            </a:r>
          </a:p>
          <a:p>
            <a:pPr algn="l">
              <a:lnSpc>
                <a:spcPts val="1700"/>
              </a:lnSpc>
            </a:pPr>
            <a:r>
              <a:rPr sz="1100" b="0" i="0">
                <a:solidFill>
                  <a:srgbClr val="802010"/>
                </a:solidFill>
                <a:latin typeface="Calibri"/>
              </a:rPr>
              <a:t>  → direct tail statistics from same annual measurement series</a:t>
            </a:r>
          </a:p>
          <a:p>
            <a:pPr algn="l">
              <a:lnSpc>
                <a:spcPts val="1700"/>
              </a:lnSpc>
            </a:pPr>
            <a:r>
              <a:rPr sz="1200" b="1" i="0">
                <a:solidFill>
                  <a:srgbClr val="0D1B2A"/>
                </a:solidFill>
                <a:latin typeface="Calibri"/>
              </a:rPr>
              <a:t>50th, 10th, 75th, 90th, 95th, 98th Percentile</a:t>
            </a:r>
          </a:p>
          <a:p>
            <a:pPr algn="l">
              <a:lnSpc>
                <a:spcPts val="1700"/>
              </a:lnSpc>
            </a:pPr>
            <a:r>
              <a:rPr sz="1100" b="0" i="0">
                <a:solidFill>
                  <a:srgbClr val="802010"/>
                </a:solidFill>
                <a:latin typeface="Calibri"/>
              </a:rPr>
              <a:t>  → other percentile ranks from the same distribution</a:t>
            </a:r>
          </a:p>
          <a:p>
            <a:pPr algn="l">
              <a:lnSpc>
                <a:spcPts val="1700"/>
              </a:lnSpc>
            </a:pPr>
            <a:r>
              <a:rPr sz="1200" b="0" i="1">
                <a:solidFill>
                  <a:srgbClr val="0D1B2A"/>
                </a:solidFill>
                <a:latin typeface="Calibri"/>
              </a:rPr>
              <a:t>Feeding these trivially reconstructs the 99th percentile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868680"/>
            <a:ext cx="4206240" cy="3200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868680"/>
            <a:ext cx="42062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RETAINED — Leakage-Free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0" y="1234440"/>
          <a:ext cx="4297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0175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1B2A"/>
                          </a:solidFill>
                          <a:latin typeface="Calibri"/>
                        </a:rPr>
                        <a:t>Bulk stats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1B2A"/>
                          </a:solidFill>
                          <a:latin typeface="Calibri"/>
                        </a:rPr>
                        <a:t>Arithmetic Mean, Arithmetic Std Dev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1B2A"/>
                          </a:solidFill>
                          <a:latin typeface="Calibri"/>
                        </a:rPr>
                        <a:t>Completeness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1B2A"/>
                          </a:solidFill>
                          <a:latin typeface="Calibri"/>
                        </a:rPr>
                        <a:t>Obs. Count, Percent, Valid/Required Day Count, Exceptional/Null Data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1B2A"/>
                          </a:solidFill>
                          <a:latin typeface="Calibri"/>
                        </a:rPr>
                        <a:t>Regulatory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1B2A"/>
                          </a:solidFill>
                          <a:latin typeface="Calibri"/>
                        </a:rPr>
                        <a:t>Primary &amp; Secondary Exceedance Count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1B2A"/>
                          </a:solidFill>
                          <a:latin typeface="Calibri"/>
                        </a:rPr>
                        <a:t>Geographic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1B2A"/>
                          </a:solidFill>
                          <a:latin typeface="Calibri"/>
                        </a:rPr>
                        <a:t>Latitude, Longitude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1B2A"/>
                          </a:solidFill>
                          <a:latin typeface="Calibri"/>
                        </a:rPr>
                        <a:t>Station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1B2A"/>
                          </a:solidFill>
                          <a:latin typeface="Calibri"/>
                        </a:rPr>
                        <a:t>POC, State/County Code, Site Num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1B2A"/>
                          </a:solidFill>
                          <a:latin typeface="Calibri"/>
                        </a:rPr>
                        <a:t>Categorical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0D1B2A"/>
                          </a:solidFill>
                          <a:latin typeface="Calibri"/>
                        </a:rPr>
                        <a:t>State Name, Parameter Name (OHE)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74320" y="4087368"/>
            <a:ext cx="8595360" cy="320040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087368"/>
            <a:ext cx="84124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l"/>
            <a:r>
              <a:rPr sz="1100" b="0" i="1">
                <a:solidFill>
                  <a:srgbClr val="0D1B2A"/>
                </a:solidFill>
                <a:latin typeface="Calibri"/>
              </a:rPr>
              <a:t>Null imputation: Exceedance Count nulls → 0 (null = zero exceedances recorded, not missing data)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EDA — Global Descriptive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i="0">
                <a:solidFill>
                  <a:srgbClr val="4A90D9"/>
                </a:solidFill>
                <a:latin typeface="Calibri"/>
              </a:rPr>
              <a:t>Target Variable: 99th Percentile Concentration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412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Statistic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99th Percentile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Arithmetic Mean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Arith. Std Dev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Observation Count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55,969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55,969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55,969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55,969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57.15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32.73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7.95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1,672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Std Dev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1,016.24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282.60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206.68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4,121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0.00002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-7.07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135,129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27,312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27,967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86,042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74320" y="3337560"/>
            <a:ext cx="841248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337560"/>
            <a:ext cx="8229600" cy="7772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⚠  The target has extremely high variance (σ = 1,016) and max = 135,129 — driven by multi-modal distribution across 406 pollutant types with vastly different concentration scales.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EDA — Per-Pollutant Target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4A90D9"/>
                </a:solidFill>
                <a:latin typeface="Calibri"/>
              </a:rPr>
              <a:t>Top 10 Pollutants by Mean 99th-Percentile Concentration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914400"/>
          <a:ext cx="841247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692"/>
                <a:gridCol w="923320"/>
                <a:gridCol w="1436277"/>
                <a:gridCol w="1231094"/>
                <a:gridCol w="1231094"/>
              </a:tblGrid>
              <a:tr h="26600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Pollutant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Mean 99th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Std Dev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6600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Particle Number Total Count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54,857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33,293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135,129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26600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Mixing Height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3,145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3,810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00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Methane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2,537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315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3,070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26600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Elapsed Sample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166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1,440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0.52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1,441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00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Barometric Pressure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310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963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1,096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26600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Average Ambient Pressure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743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00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Total NMOC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377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435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3,030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26600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Wind Direction - Resultant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666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6600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PM2.5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1,245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18.4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12.1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285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26601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Ozone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892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0.072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0.018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0D1B2A"/>
                          </a:solidFill>
                          <a:latin typeface="Calibri"/>
                        </a:rPr>
                        <a:t>0.165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74320" y="3931920"/>
            <a:ext cx="841248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931920"/>
            <a:ext cx="8229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Insight: Target spans 6 orders of magnitude — from 0.00002 (Ozone) to 135,129 (Particle Count). This multi-modality drives the feature encoding strategy.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EDA — Data Quality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868680"/>
            <a:ext cx="4023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Missing Value Analysis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34440"/>
          <a:ext cx="41148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097280"/>
                <a:gridCol w="914400"/>
              </a:tblGrid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Null Count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% Missing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Primary Exceedance Count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45,742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77.3%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Secondary Exceedance 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46,548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78.6%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All other 16 features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74320" y="2542032"/>
            <a:ext cx="4114800" cy="59436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542032"/>
            <a:ext cx="393192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 i="1">
                <a:solidFill>
                  <a:srgbClr val="0D1B2A"/>
                </a:solidFill>
                <a:latin typeface="Calibri"/>
              </a:rPr>
              <a:t>fillna(0) applied — null = zero exceedances recorded, not unknown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868680"/>
            <a:ext cx="40233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Cleaning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280160"/>
            <a:ext cx="4023360" cy="18288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2100"/>
              </a:lnSpc>
            </a:pPr>
            <a:r>
              <a:rPr sz="1300" b="0" i="0">
                <a:solidFill>
                  <a:srgbClr val="0D1B2A"/>
                </a:solidFill>
                <a:latin typeface="Calibri"/>
              </a:rPr>
              <a:t>1. Filter: 99th Percentile is null → 0 rows lost</a:t>
            </a:r>
          </a:p>
          <a:p>
            <a:pPr algn="l">
              <a:lnSpc>
                <a:spcPts val="2100"/>
              </a:lnSpc>
            </a:pPr>
            <a:r>
              <a:rPr sz="1300" b="0" i="0">
                <a:solidFill>
                  <a:srgbClr val="0D1B2A"/>
                </a:solidFill>
                <a:latin typeface="Calibri"/>
              </a:rPr>
              <a:t>2. Filter: 99th Percentile ≤ 0 (anomalies) → minor reduction</a:t>
            </a:r>
          </a:p>
          <a:p>
            <a:pPr algn="l">
              <a:lnSpc>
                <a:spcPts val="2100"/>
              </a:lnSpc>
            </a:pPr>
            <a:r>
              <a:rPr sz="1300" b="0" i="0">
                <a:solidFill>
                  <a:srgbClr val="0D1B2A"/>
                </a:solidFill>
                <a:latin typeface="Calibri"/>
              </a:rPr>
              <a:t>3. Impute: Exceedance counts null → 0</a:t>
            </a:r>
          </a:p>
          <a:p>
            <a:pPr algn="l">
              <a:lnSpc>
                <a:spcPts val="2100"/>
              </a:lnSpc>
            </a:pPr>
            <a:r>
              <a:rPr sz="1300" b="0" i="0">
                <a:solidFill>
                  <a:srgbClr val="0D1B2A"/>
                </a:solidFill>
                <a:latin typeface="Calibri"/>
              </a:rPr>
              <a:t>4. Result: 55,969 rows from 59,154 (94.6% retention)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3291840"/>
            <a:ext cx="2743200" cy="6858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3291840"/>
            <a:ext cx="2743200" cy="37719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94.6%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66903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4A90D9"/>
                </a:solidFill>
                <a:latin typeface="Calibri"/>
              </a:rPr>
              <a:t>rows retained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Distributed Machine Learning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05840"/>
            <a:ext cx="1234440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1234440" cy="1645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HDFS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Ingestion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55,969 rows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08760" y="1737360"/>
            <a:ext cx="137160" cy="1828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91640" y="1005840"/>
            <a:ext cx="1234440" cy="1645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005840"/>
            <a:ext cx="1234440" cy="1645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Train/Test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Split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80% / 20%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737360"/>
            <a:ext cx="137160" cy="1828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08960" y="1005840"/>
            <a:ext cx="1234440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005840"/>
            <a:ext cx="1234440" cy="1645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Preprocess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Fit on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TRAIN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737360"/>
            <a:ext cx="137160" cy="1828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005840"/>
            <a:ext cx="1234440" cy="1645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005840"/>
            <a:ext cx="1234440" cy="1645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Feature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Assembly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OHE +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737360"/>
            <a:ext cx="137160" cy="1828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0" y="1005840"/>
            <a:ext cx="1234440" cy="16459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1005840"/>
            <a:ext cx="1234440" cy="1645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6 Model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Training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+ Tuning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1737360"/>
            <a:ext cx="137160" cy="1828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1005840"/>
            <a:ext cx="1234440" cy="1645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1005840"/>
            <a:ext cx="1234440" cy="164592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Evaluation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RMSE R²</a:t>
            </a:r>
          </a:p>
          <a:p>
            <a:pPr algn="l">
              <a:lnSpc>
                <a:spcPts val="14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MAE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26080"/>
            <a:ext cx="5029200" cy="82296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26080"/>
            <a:ext cx="4846320" cy="8229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Preprocessing: StringIndexer → OneHotEncoder (categoricals) | VectorAssembler + StandardScaler (16 numerics, z-scored)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926080"/>
            <a:ext cx="3383280" cy="8229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0" y="2926080"/>
            <a:ext cx="3200400" cy="8229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 i="1">
                <a:solidFill>
                  <a:srgbClr val="1A6B3C"/>
                </a:solidFill>
                <a:latin typeface="Calibri"/>
              </a:rPr>
              <a:t>No leakage: preprocessing fitted on training data only — test set statistics never influence scaler or vocabulary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Six Distributed ML Algorithms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49808"/>
          <a:ext cx="8412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920240"/>
                <a:gridCol w="1371600"/>
                <a:gridCol w="1554480"/>
                <a:gridCol w="3200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Algorithm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Regularisation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Tuning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Key Parameters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OLS Linear Regression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Ridge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L2 (ℓ²)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TrainValidationSplit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regParam ∈ {0.001, 0.01, 0.1, 1.0}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Lasso Regression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L1 (ℓ¹)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regParam=0.05, elasticNet=1.0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Elastic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L1+L2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TrainValidationSplit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regParam ∈ {0.01,0.1,0.5} × α ∈ {0.2,0.5,0.8}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Bagging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Fixed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numTrees=100, maxDepth=10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Gradient-Boosted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Boosting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TrainValidationSplit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maxDepth ∈ {5,10} × maxIter ∈ {20,50}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74320" y="4069080"/>
            <a:ext cx="8412480" cy="3200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4069080"/>
            <a:ext cx="8229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 i="1">
                <a:solidFill>
                  <a:srgbClr val="0D1B2A"/>
                </a:solidFill>
                <a:latin typeface="Calibri"/>
              </a:rPr>
              <a:t>All 6 models share the same feature vector: z-scored numerics + OneHotEncoded categoricals (~470 dimensions). Fair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Hyperparameter Tuning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4A90D9"/>
                </a:solidFill>
                <a:latin typeface="Calibri"/>
              </a:rPr>
              <a:t>TrainValidationSplit (80/20 internal) evaluated on RMSE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651760" cy="2834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6517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05840"/>
            <a:ext cx="265176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Ridge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408176"/>
            <a:ext cx="2651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Grid: regParam ∈ {0.001, 0.01, 0.1, 1.0}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19072"/>
            <a:ext cx="265176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600" b="1" i="0">
                <a:solidFill>
                  <a:srgbClr val="4A90D9"/>
                </a:solidFill>
                <a:latin typeface="Calibri"/>
              </a:rPr>
              <a:t>Best regParam = 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240280"/>
            <a:ext cx="2651760" cy="1463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 i="1">
                <a:solidFill>
                  <a:srgbClr val="0D1B2A"/>
                </a:solidFill>
                <a:latin typeface="Calibri"/>
              </a:rPr>
              <a:t>Strong L2 regularisation preferred — prevents overfitting on ~470-dim OHE 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005840"/>
            <a:ext cx="2651760" cy="2834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80" y="1005840"/>
            <a:ext cx="26517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005840"/>
            <a:ext cx="265176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Elastic Net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1408176"/>
            <a:ext cx="2651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Grid: 3 × 3 = 9 parameter combinations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1719072"/>
            <a:ext cx="265176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600" b="1" i="0">
                <a:solidFill>
                  <a:srgbClr val="4A90D9"/>
                </a:solidFill>
                <a:latin typeface="Calibri"/>
              </a:rPr>
              <a:t>regParam = 0.1  |  elasticNet = 0.2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240280"/>
            <a:ext cx="2651760" cy="1463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 i="1">
                <a:solidFill>
                  <a:srgbClr val="0D1B2A"/>
                </a:solidFill>
                <a:latin typeface="Calibri"/>
              </a:rPr>
              <a:t>Mild L2-dominant — mostly Ridge-like with slight L1 sparsity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005840"/>
            <a:ext cx="2651760" cy="28346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1005840"/>
            <a:ext cx="265176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005840"/>
            <a:ext cx="265176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Gradient-Boosted Tree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1408176"/>
            <a:ext cx="2651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Grid: 2 × 2 = 4 combinations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719072"/>
            <a:ext cx="265176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600" b="1" i="0">
                <a:solidFill>
                  <a:srgbClr val="4A90D9"/>
                </a:solidFill>
                <a:latin typeface="Calibri"/>
              </a:rPr>
              <a:t>maxDepth = 5  |  maxIter = 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240280"/>
            <a:ext cx="2651760" cy="1463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00" b="0" i="1">
                <a:solidFill>
                  <a:srgbClr val="0D1B2A"/>
                </a:solidFill>
                <a:latin typeface="Calibri"/>
              </a:rPr>
              <a:t>Shallow trees, fewer iterations — prevents overfitting on complex feature space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859536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Final Model Comparison — Test Set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49808"/>
          <a:ext cx="640079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7426"/>
                <a:gridCol w="927652"/>
                <a:gridCol w="1020417"/>
                <a:gridCol w="927652"/>
                <a:gridCol w="927652"/>
              </a:tblGrid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Ridge Regression (TUNED)</a:t>
                      </a:r>
                    </a:p>
                  </a:txBody>
                  <a:tcPr>
                    <a:solidFill>
                      <a:srgbClr val="E8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6B3C"/>
                          </a:solidFill>
                          <a:latin typeface="Calibri"/>
                        </a:rPr>
                        <a:t>0.9986</a:t>
                      </a:r>
                    </a:p>
                  </a:txBody>
                  <a:tcPr>
                    <a:solidFill>
                      <a:srgbClr val="E8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24.42</a:t>
                      </a:r>
                    </a:p>
                  </a:txBody>
                  <a:tcPr>
                    <a:solidFill>
                      <a:srgbClr val="E8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5.49</a:t>
                      </a:r>
                    </a:p>
                  </a:txBody>
                  <a:tcPr>
                    <a:solidFill>
                      <a:srgbClr val="E8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0D1B2A"/>
                          </a:solidFill>
                          <a:latin typeface="Calibri"/>
                        </a:rPr>
                        <a:t>1st</a:t>
                      </a:r>
                    </a:p>
                  </a:txBody>
                  <a:tcPr>
                    <a:solidFill>
                      <a:srgbClr val="E8F8EE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Lasso Regression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0.9985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24.62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5.33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2nd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Elastic Net (TUNED)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0.9985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24.84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3rd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OLS Linear Regression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0.9985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24.96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5.65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4th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40494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GBT (TUNED)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0.9688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113.58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6B3C"/>
                          </a:solidFill>
                          <a:latin typeface="Calibri"/>
                        </a:rPr>
                        <a:t>4.12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5th ★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404952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C0392B"/>
                          </a:solidFill>
                          <a:latin typeface="Calibri"/>
                        </a:rPr>
                        <a:t>0.6310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C0392B"/>
                          </a:solidFill>
                          <a:latin typeface="Calibri"/>
                        </a:rPr>
                        <a:t>390.82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6th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858000" y="777240"/>
            <a:ext cx="2103120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0" y="777240"/>
            <a:ext cx="2103120" cy="42748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0.9986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204722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4A90D9"/>
                </a:solidFill>
                <a:latin typeface="Calibri"/>
              </a:rPr>
              <a:t>Best R²  |  Ridge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664208"/>
            <a:ext cx="2103120" cy="7772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664208"/>
            <a:ext cx="2103120" cy="42748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4.12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91690"/>
            <a:ext cx="2103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Best MAE  |  GBT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551176"/>
            <a:ext cx="2103120" cy="7772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578608"/>
            <a:ext cx="2103120" cy="27432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Linear cluster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834640"/>
            <a:ext cx="210312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R² ≈ 0.9985
Regularisation minimal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Model Performance — Metric Deep Dive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74320" y="777240"/>
          <a:ext cx="265176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108960" y="777240"/>
          <a:ext cx="265176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0" y="777240"/>
          <a:ext cx="2651760" cy="3200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4069080"/>
            <a:ext cx="8412480" cy="32004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069080"/>
            <a:ext cx="8229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l"/>
            <a:r>
              <a:rPr sz="1100" b="0" i="1">
                <a:solidFill>
                  <a:srgbClr val="0D1B2A"/>
                </a:solidFill>
                <a:latin typeface="Calibri"/>
              </a:rPr>
              <a:t>Green = best metric  |  GBT wins MAE but struggles with R² due to extreme outliers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8595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 i="0">
                <a:solidFill>
                  <a:srgbClr val="0D1B2A"/>
                </a:solidFill>
                <a:latin typeface="Calibri"/>
              </a:rPr>
              <a:t>Why Linear Models Outperform Tree Ensembles on R²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4023360" cy="320040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4023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Why Linear Models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4023360" cy="2514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Arithmetic Mean is the single strongest predictor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Within each pollutant type: 99th pct ≈ f(mean, std dev)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For log-normal distributions: 99th pct ≈ exp(μ + 2.33σ) — near-linear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OHE gives each of 406 pollutants its own intercept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→ Captures inter-pollutant variance completely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Combined R² naturally approaches 1.0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822960"/>
            <a:ext cx="4023360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822960"/>
            <a:ext cx="4023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Why Trees Struggle with 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234440"/>
            <a:ext cx="4023360" cy="2514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Target spans 6 orders of magnitude (0.00002 → 135,129)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Extreme pollutants (Particle Number Count, max=135,129) produce huge squared errors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RMSE penalises outliers quadratically → inflates R² denominator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GBT corrects via boosting → MAE=4.12 (BETTER than linear)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But a few extreme residuals keep RMSE=113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931920"/>
            <a:ext cx="8412480" cy="4114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8229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GBT has BETTER typical accuracy (MAE=4.12) than all linear models — but WORSE R² due to 6-order-of-magnitude outliers in the target.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Algorithm Analysis — Linear Models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49808"/>
          <a:ext cx="84124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00200"/>
                <a:gridCol w="1600200"/>
                <a:gridCol w="1600200"/>
                <a:gridCol w="1600200"/>
              </a:tblGrid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Aspect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OLS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Ridge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Lasso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Elastic Net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0.9985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6B3C"/>
                          </a:solidFill>
                          <a:latin typeface="Calibri"/>
                        </a:rPr>
                        <a:t>0.9986 ★</a:t>
                      </a:r>
                    </a:p>
                  </a:txBody>
                  <a:tcPr>
                    <a:solidFill>
                      <a:srgbClr val="E8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0.9985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0.9985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24.96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6B3C"/>
                          </a:solidFill>
                          <a:latin typeface="Calibri"/>
                        </a:rPr>
                        <a:t>24.42 ★</a:t>
                      </a:r>
                    </a:p>
                  </a:txBody>
                  <a:tcPr>
                    <a:solidFill>
                      <a:srgbClr val="E8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24.62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24.84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MAE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5.65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5.49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A6B3C"/>
                          </a:solidFill>
                          <a:latin typeface="Calibri"/>
                        </a:rPr>
                        <a:t>5.33 ★</a:t>
                      </a:r>
                    </a:p>
                  </a:txBody>
                  <a:tcPr>
                    <a:solidFill>
                      <a:srgbClr val="E8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5.50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Regularisation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L1+L2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Feature sparsity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0D1B2A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74320" y="2743200"/>
            <a:ext cx="4023360" cy="182880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88920"/>
            <a:ext cx="3840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1A6B3C"/>
                </a:solidFill>
                <a:latin typeface="Calibri"/>
              </a:rPr>
              <a:t>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108960"/>
            <a:ext cx="3749039" cy="1371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Highest R² (99.85–99.86%) — near-perfect fit</a:t>
            </a:r>
          </a:p>
          <a:p>
            <a:pPr algn="l">
              <a:lnSpc>
                <a:spcPts val="17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Consistent low RMSE (~24 across all variants)</a:t>
            </a:r>
          </a:p>
          <a:p>
            <a:pPr algn="l">
              <a:lnSpc>
                <a:spcPts val="17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Interpretable: each coefficient has physical meaning</a:t>
            </a:r>
          </a:p>
          <a:p>
            <a:pPr algn="l">
              <a:lnSpc>
                <a:spcPts val="17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Fast to train — closed-form or single-pass optimisation</a:t>
            </a:r>
          </a:p>
          <a:p>
            <a:pPr algn="l">
              <a:lnSpc>
                <a:spcPts val="17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Regularised variants prevent overfitting on 470-dim OHE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2743200"/>
            <a:ext cx="4023360" cy="18288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788920"/>
            <a:ext cx="38404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3108960"/>
            <a:ext cx="3749039" cy="1371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Assumes linearity — cannot model interaction effects</a:t>
            </a:r>
          </a:p>
          <a:p>
            <a:pPr algn="l">
              <a:lnSpc>
                <a:spcPts val="17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Higher MAE than GBT (5.33–5.65 vs 4.12)</a:t>
            </a:r>
          </a:p>
          <a:p>
            <a:pPr algn="l">
              <a:lnSpc>
                <a:spcPts val="17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Sensitive to extreme target outliers (135,129)</a:t>
            </a:r>
          </a:p>
          <a:p>
            <a:pPr algn="l">
              <a:lnSpc>
                <a:spcPts val="17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All 4 variants perform near-identically — limited differentiation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Algorithm Analysis — Ensemble Tree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777240"/>
            <a:ext cx="4023360" cy="3474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777240"/>
            <a:ext cx="4023360" cy="3474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777240"/>
            <a:ext cx="402336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Random Forest  |  R²=0.6310  |  MAE=10.00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234440" cy="411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23444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R²: 0.6310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19" y="1188720"/>
            <a:ext cx="1234440" cy="411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19" y="1188720"/>
            <a:ext cx="123444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RMSE: 390.82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188720"/>
            <a:ext cx="1234440" cy="411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188720"/>
            <a:ext cx="123444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MAE: 10.00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91640"/>
            <a:ext cx="3931920" cy="10515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719072"/>
            <a:ext cx="3749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6B3C"/>
                </a:solidFill>
                <a:latin typeface="Calibri"/>
              </a:rPr>
              <a:t>Advantages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965960"/>
            <a:ext cx="3749039" cy="6858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Robust via bagging (100 tree average)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Provides feature importances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No linearity assumption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16352"/>
            <a:ext cx="3931920" cy="132588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834640"/>
            <a:ext cx="3749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Limitations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081528"/>
            <a:ext cx="3749039" cy="100584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Lowest R² (0.6310) — worst overall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RMSE=390 — extreme outlier predictions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Not tuned — fixed params underperform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Parallel bagging cannot correct errors sequentially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777240"/>
            <a:ext cx="4023360" cy="347472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777240"/>
            <a:ext cx="4023360" cy="347472"/>
          </a:xfrm>
          <a:prstGeom prst="rect">
            <a:avLst/>
          </a:prstGeom>
          <a:solidFill>
            <a:srgbClr val="1A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777240"/>
            <a:ext cx="402336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GBT (TUNED)  |  R²=0.9688  |  MAE=4.12 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1188720"/>
            <a:ext cx="1234440" cy="411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1188720"/>
            <a:ext cx="123444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R²: 0.9688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188720"/>
            <a:ext cx="1234440" cy="411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1188720"/>
            <a:ext cx="123444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RMSE: 113.58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60920" y="1188720"/>
            <a:ext cx="1234440" cy="411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1188720"/>
            <a:ext cx="123444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MAE: 4.12 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09160" y="1691640"/>
            <a:ext cx="3931920" cy="123444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1719072"/>
            <a:ext cx="3749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1A6B3C"/>
                </a:solidFill>
                <a:latin typeface="Calibri"/>
              </a:rPr>
              <a:t>Advantages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1965960"/>
            <a:ext cx="3749039" cy="8686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BEST MAE (4.12) across all 6 models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Strong R²=0.9688 — close to linear models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Sequential boosting corrects hardest samples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Tuned: maxDepth=5, maxIter=20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2999232"/>
            <a:ext cx="3931920" cy="114300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017520"/>
            <a:ext cx="3749039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Limitations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3264408"/>
            <a:ext cx="3749039" cy="8229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RMSE=113 — extreme outliers inflate squared error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Sequential training — slower than linear/RF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Less interpretable than regression coefficients</a:t>
            </a:r>
          </a:p>
          <a:p>
            <a:pPr algn="l">
              <a:lnSpc>
                <a:spcPts val="1500"/>
              </a:lnSpc>
            </a:pPr>
            <a:r>
              <a:rPr sz="1100" b="0" i="0">
                <a:solidFill>
                  <a:srgbClr val="0D1B2A"/>
                </a:solidFill>
                <a:latin typeface="Calibri"/>
              </a:rPr>
              <a:t>406-pollutant outliers still distort RMSE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Residual Analysis — Best Model: Ridge Regression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04672"/>
            <a:ext cx="4572000" cy="6858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438912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Mean Residual ≈ 0.0   |   σ_residual ≈ 24.4   |   Best model: Ridge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572768"/>
            <a:ext cx="4572000" cy="196596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Residuals approximately centred at zero → no systematic bias for typical predictions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Right-skewed distribution → model under-predicts at the extreme high end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Expected: 99th percentile is a rare event with few extreme training examples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The right skew is not a model failure — it reflects fundamental difficulty of predicting rare extremes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611880"/>
            <a:ext cx="4572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611880"/>
            <a:ext cx="438912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300" b="0" i="1">
                <a:solidFill>
                  <a:srgbClr val="FFFFFF"/>
                </a:solidFill>
                <a:latin typeface="Calibri"/>
              </a:rPr>
              <a:t>Right skew in residuals = fundamental challenge of tail prediction, not model deficiency.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120640" y="749808"/>
          <a:ext cx="365760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Feature Importance — Random Forest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 i="0">
                <a:solidFill>
                  <a:srgbClr val="4A90D9"/>
                </a:solidFill>
                <a:latin typeface="Calibri"/>
              </a:rPr>
              <a:t>Top 15 features by mean decrease in impurity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914400"/>
          <a:ext cx="841248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274320" y="3977639"/>
            <a:ext cx="8412480" cy="36576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3977639"/>
            <a:ext cx="82296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Arithmetic Mean + Std Dev dominate — confirming near-linear relationship between bulk statistics and 99th-percentile tail.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Discussion of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402336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822960"/>
            <a:ext cx="4023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4023360" cy="22860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Ridge is best overall (R²=0.9986) — L2 regularisation prevents OHE overfitting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All 4 linear models perform near-identically — relationship is inherently linear within each pollutant type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GBT achieves best MAE (4.12) — sequential boosting corrects typical errors better than regression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Random Forest underperforms — lack of tuning + extreme target outliers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822960"/>
            <a:ext cx="4023360" cy="3200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822960"/>
            <a:ext cx="40233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Physical Interpretation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234440"/>
            <a:ext cx="4023360" cy="22860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Many pollutants follow log-normal concentration distributions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For log-normal: 99th pct = exp(μ + 2.33σ) — deterministic from mean &amp; std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OHE of Parameter Name stratifies by pollutant type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Within each stratum: near-deterministic relationship → R² → 1.0</a:t>
            </a:r>
          </a:p>
          <a:p>
            <a:pPr algn="l">
              <a:lnSpc>
                <a:spcPts val="19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The model learned chemistry, not just statistics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657600"/>
            <a:ext cx="8412480" cy="7315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703320"/>
            <a:ext cx="8229600" cy="6400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Linear regression succeeds because the 99th percentile is physically determined by mean and standard deviation within each pollutant type.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GBT's MAE=4.12 shows it is the most accurate in practice — better for operational prediction despite lower R².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 i="0">
                <a:solidFill>
                  <a:srgbClr val="0D1B2A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22960"/>
            <a:ext cx="4023360" cy="3566160"/>
          </a:xfrm>
          <a:prstGeom prst="rect">
            <a:avLst/>
          </a:prstGeom>
          <a:solidFill>
            <a:srgbClr val="FD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8404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3840480" cy="29260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Single year (2025) — no temporal features; seasonal/trend effects absent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Pseudo-distributed single-node VM — 2 cores limit ensemble depth &amp; tuning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Random Forest not tuned — unfair comparison with tuned GBT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Extreme outlier pollutants (Particle Count, max=135,129) inflate RMSE metrics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Bulk statistics cannot fully characterise complex atmospheric chemistry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822960"/>
            <a:ext cx="4023360" cy="356616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914400"/>
            <a:ext cx="384048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 i="0">
                <a:solidFill>
                  <a:srgbClr val="1A6B3C"/>
                </a:solidFill>
                <a:latin typeface="Calibri"/>
              </a:rPr>
              <a:t>Future Directions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25880"/>
            <a:ext cx="3840480" cy="292608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Multi-year panel (2015–2025): add Year feature, capture temporal trends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Quantile Regression Forest: purpose-built for tail quantile prediction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Generalised Extreme Value (GEV) distribution: statistical extreme-value theory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True multi-node Spark cluster: deeper ensembles, full k-fold CV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Enrich features: population density, industrial indices, meteorological data</a:t>
            </a:r>
          </a:p>
          <a:p>
            <a:pPr algn="l">
              <a:lnSpc>
                <a:spcPts val="1800"/>
              </a:lnSpc>
            </a:pPr>
            <a:r>
              <a:rPr sz="1200" b="0" i="0">
                <a:solidFill>
                  <a:srgbClr val="0D1B2A"/>
                </a:solidFill>
                <a:latin typeface="Calibri"/>
              </a:rPr>
              <a:t>Tune Random Forest with equal TVS budget as GBT for fair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97280"/>
            <a:ext cx="3931920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4A90D9"/>
                </a:solidFill>
                <a:latin typeface="Calibri"/>
              </a:rPr>
              <a:t>Linear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81328"/>
            <a:ext cx="3931920" cy="1005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R² ≈ 0.9985–0.9986 across all 4 variants. The 99th-percentile is nearly perfectly predictable from bulk statistics + pollutant type identity.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97280"/>
            <a:ext cx="3931920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143000"/>
            <a:ext cx="3931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4A90D9"/>
                </a:solidFill>
                <a:latin typeface="Calibri"/>
              </a:rPr>
              <a:t>Best Model: Ridge (TUNED)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481328"/>
            <a:ext cx="3931920" cy="1005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R²=0.9986  |  RMSE=24.42  |  MAE=5.49. regParam=1.0 — mild L2 regularisation improves over plain OLS on 470-dim OHE space.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743200"/>
            <a:ext cx="3931920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788920"/>
            <a:ext cx="3931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4A90D9"/>
                </a:solidFill>
                <a:latin typeface="Calibri"/>
              </a:rPr>
              <a:t>GBT Surprise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27248"/>
            <a:ext cx="3931920" cy="1005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MAE=4.12 — the most accurate typical prediction of all 6 models. Sequential boosting corrects errors better, but extreme outliers inflate RMSE to 113.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743200"/>
            <a:ext cx="3931920" cy="14173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788920"/>
            <a:ext cx="39319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 i="0">
                <a:solidFill>
                  <a:srgbClr val="4A90D9"/>
                </a:solidFill>
                <a:latin typeface="Calibri"/>
              </a:rPr>
              <a:t>Course Requirements Met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27248"/>
            <a:ext cx="3931920" cy="1005840"/>
          </a:xfrm>
          <a:prstGeom prst="rect">
            <a:avLst/>
          </a:prstGeom>
          <a:noFill/>
        </p:spPr>
        <p:txBody>
          <a:bodyPr wrap="square" lIns="73152" rIns="73152" tIns="73152" bIns="73152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N=55,969 ✓  p=18 ✓  n_A=6 ✓  N×p=1,007,442 ✓
Complete end-to-end distributed ML pipeline on HDFS using Apache Spark.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 i="0">
                <a:solidFill>
                  <a:srgbClr val="4A90D9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834640"/>
            <a:ext cx="3657600" cy="36576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2926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Alireza Shahidiani · Gita Javadi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 i="0">
                <a:solidFill>
                  <a:srgbClr val="AABBC8"/>
                </a:solidFill>
                <a:latin typeface="Calibri"/>
              </a:rPr>
              <a:t>Big Data Analytics and Text Mining — Module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 i="0">
                <a:solidFill>
                  <a:srgbClr val="AABBC8"/>
                </a:solidFill>
                <a:latin typeface="Calibri"/>
              </a:rPr>
              <a:t>Università di Bologna —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 i="0">
                <a:solidFill>
                  <a:srgbClr val="4A90D9"/>
                </a:solidFill>
                <a:latin typeface="Calibri"/>
              </a:rPr>
              <a:t>github.com/Shervinrtd/Air-Quality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66344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AABBC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